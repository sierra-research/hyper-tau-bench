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44ab49d5a2849a7" Type="http://schemas.openxmlformats.org/officeDocument/2006/relationships/extended-properties" Target="docProps/app.xml"/><Relationship Id="Ra3c3fd6ed1834307" Type="http://schemas.openxmlformats.org/officeDocument/2006/relationships/officeDocument" Target="ppt/presentation.xml"/><Relationship Id="Rdd51b75c9c804ba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4bc70b8fca48ac"/>
  </p:sldMasterIdLst>
  <p:notesMasterIdLst>
    <p:notesMasterId xmlns:r="http://schemas.openxmlformats.org/officeDocument/2006/relationships" r:id="R1e37b52180fb4e7b"/>
  </p:notesMasterIdLst>
  <p:sldIdLst>
    <p:sldId xmlns:r="http://schemas.openxmlformats.org/officeDocument/2006/relationships" id="256" r:id="Rdac9aa4ac48e46b7"/>
    <p:sldId xmlns:r="http://schemas.openxmlformats.org/officeDocument/2006/relationships" id="257" r:id="R22239ad727bd49bf"/>
    <p:sldId xmlns:r="http://schemas.openxmlformats.org/officeDocument/2006/relationships" id="259" r:id="Rba1be63e29c84e6d"/>
    <p:sldId xmlns:r="http://schemas.openxmlformats.org/officeDocument/2006/relationships" id="258" r:id="R0da1e03731094cff"/>
    <p:sldId xmlns:r="http://schemas.openxmlformats.org/officeDocument/2006/relationships" id="260" r:id="Rd190b3f43d09481c"/>
    <p:sldId xmlns:r="http://schemas.openxmlformats.org/officeDocument/2006/relationships" id="261" r:id="R4dc4daaaaf854487"/>
    <p:sldId xmlns:r="http://schemas.openxmlformats.org/officeDocument/2006/relationships" id="263" r:id="Rbe890aace73c4a64"/>
    <p:sldId xmlns:r="http://schemas.openxmlformats.org/officeDocument/2006/relationships" id="262" r:id="R06c6893b09ce424e"/>
    <p:sldId xmlns:r="http://schemas.openxmlformats.org/officeDocument/2006/relationships" id="264" r:id="Rd8e1d991fa27483c"/>
    <p:sldId xmlns:r="http://schemas.openxmlformats.org/officeDocument/2006/relationships" id="265" r:id="R32179ee1558b41af"/>
    <p:sldId xmlns:r="http://schemas.openxmlformats.org/officeDocument/2006/relationships" id="266" r:id="Reb49b1ba859a4e33"/>
    <p:sldId xmlns:r="http://schemas.openxmlformats.org/officeDocument/2006/relationships" id="267" r:id="Rcc4e9c049c014aea"/>
    <p:sldId xmlns:r="http://schemas.openxmlformats.org/officeDocument/2006/relationships" id="269" r:id="R81d02052ffde4710"/>
    <p:sldId xmlns:r="http://schemas.openxmlformats.org/officeDocument/2006/relationships" id="268" r:id="R7aea7ccd796742b5"/>
    <p:sldId xmlns:r="http://schemas.openxmlformats.org/officeDocument/2006/relationships" id="270" r:id="Rcec0599ef6054a8c"/>
    <p:sldId xmlns:r="http://schemas.openxmlformats.org/officeDocument/2006/relationships" id="271" r:id="Rfc21924163a14ecf"/>
    <p:sldId xmlns:r="http://schemas.openxmlformats.org/officeDocument/2006/relationships" id="272" r:id="R8722f8693c1640a8"/>
    <p:sldId xmlns:r="http://schemas.openxmlformats.org/officeDocument/2006/relationships" id="273" r:id="R659967792c7347e1"/>
    <p:sldId xmlns:r="http://schemas.openxmlformats.org/officeDocument/2006/relationships" id="276" r:id="R21c3dc806bb54786"/>
    <p:sldId xmlns:r="http://schemas.openxmlformats.org/officeDocument/2006/relationships" id="277" r:id="R536d736ba5ef4d7d"/>
    <p:sldId xmlns:r="http://schemas.openxmlformats.org/officeDocument/2006/relationships" id="274" r:id="R92474a9aaa2a4613"/>
    <p:sldId xmlns:r="http://schemas.openxmlformats.org/officeDocument/2006/relationships" id="275" r:id="R29ee90a1cf4542c2"/>
    <p:sldId xmlns:r="http://schemas.openxmlformats.org/officeDocument/2006/relationships" id="278" r:id="R53d345c0a7e14c7e"/>
    <p:sldId xmlns:r="http://schemas.openxmlformats.org/officeDocument/2006/relationships" id="279" r:id="R992393d721dd43df"/>
    <p:sldId xmlns:r="http://schemas.openxmlformats.org/officeDocument/2006/relationships" id="280" r:id="Rdef6c94cf4ed4286"/>
    <p:sldId xmlns:r="http://schemas.openxmlformats.org/officeDocument/2006/relationships" id="281" r:id="R09bcf4b3fc2c4494"/>
    <p:sldId xmlns:r="http://schemas.openxmlformats.org/officeDocument/2006/relationships" id="282" r:id="Rb7cc1b8e05fd4a7c"/>
    <p:sldId xmlns:r="http://schemas.openxmlformats.org/officeDocument/2006/relationships" id="283" r:id="R7bd7e1de6bf647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c6893b09ce424e" Type="http://schemas.openxmlformats.org/officeDocument/2006/relationships/slide" Target="slides/slide8.xml"/><Relationship Id="R09bcf4b3fc2c4494" Type="http://schemas.openxmlformats.org/officeDocument/2006/relationships/slide" Target="slides/slide26.xml"/><Relationship Id="R0da1e03731094cff" Type="http://schemas.openxmlformats.org/officeDocument/2006/relationships/slide" Target="slides/slide4.xml"/><Relationship Id="R1e37b52180fb4e7b" Type="http://schemas.openxmlformats.org/officeDocument/2006/relationships/notesMaster" Target="notesMasters/notesMaster1.xml"/><Relationship Id="R21c3dc806bb54786" Type="http://schemas.openxmlformats.org/officeDocument/2006/relationships/slide" Target="slides/slide19.xml"/><Relationship Id="R22239ad727bd49bf" Type="http://schemas.openxmlformats.org/officeDocument/2006/relationships/slide" Target="slides/slide2.xml"/><Relationship Id="R22e233cfdedc4c63" Type="http://schemas.openxmlformats.org/officeDocument/2006/relationships/tableStyles" Target="tableStyles.xml"/><Relationship Id="R29ee90a1cf4542c2" Type="http://schemas.openxmlformats.org/officeDocument/2006/relationships/slide" Target="slides/slide22.xml"/><Relationship Id="R32179ee1558b41af" Type="http://schemas.openxmlformats.org/officeDocument/2006/relationships/slide" Target="slides/slide10.xml"/><Relationship Id="R4dc4daaaaf854487" Type="http://schemas.openxmlformats.org/officeDocument/2006/relationships/slide" Target="slides/slide6.xml"/><Relationship Id="R536d736ba5ef4d7d" Type="http://schemas.openxmlformats.org/officeDocument/2006/relationships/slide" Target="slides/slide20.xml"/><Relationship Id="R53d345c0a7e14c7e" Type="http://schemas.openxmlformats.org/officeDocument/2006/relationships/slide" Target="slides/slide23.xml"/><Relationship Id="R58b492db75ae4369" Type="http://schemas.openxmlformats.org/officeDocument/2006/relationships/presProps" Target="presProps.xml"/><Relationship Id="R659967792c7347e1" Type="http://schemas.openxmlformats.org/officeDocument/2006/relationships/slide" Target="slides/slide18.xml"/><Relationship Id="R7aea7ccd796742b5" Type="http://schemas.openxmlformats.org/officeDocument/2006/relationships/slide" Target="slides/slide14.xml"/><Relationship Id="R7bd7e1de6bf64770" Type="http://schemas.openxmlformats.org/officeDocument/2006/relationships/slide" Target="slides/slide28.xml"/><Relationship Id="R81d02052ffde4710" Type="http://schemas.openxmlformats.org/officeDocument/2006/relationships/slide" Target="slides/slide13.xml"/><Relationship Id="R8722f8693c1640a8" Type="http://schemas.openxmlformats.org/officeDocument/2006/relationships/slide" Target="slides/slide17.xml"/><Relationship Id="R8bad9df3155b4f1b" Type="http://schemas.openxmlformats.org/officeDocument/2006/relationships/theme" Target="theme/theme1.xml"/><Relationship Id="R92474a9aaa2a4613" Type="http://schemas.openxmlformats.org/officeDocument/2006/relationships/slide" Target="slides/slide21.xml"/><Relationship Id="R992393d721dd43df" Type="http://schemas.openxmlformats.org/officeDocument/2006/relationships/slide" Target="slides/slide24.xml"/><Relationship Id="Rb7cc1b8e05fd4a7c" Type="http://schemas.openxmlformats.org/officeDocument/2006/relationships/slide" Target="slides/slide27.xml"/><Relationship Id="Rba1be63e29c84e6d" Type="http://schemas.openxmlformats.org/officeDocument/2006/relationships/slide" Target="slides/slide3.xml"/><Relationship Id="Rbe890aace73c4a64" Type="http://schemas.openxmlformats.org/officeDocument/2006/relationships/slide" Target="slides/slide7.xml"/><Relationship Id="Rcc4e9c049c014aea" Type="http://schemas.openxmlformats.org/officeDocument/2006/relationships/slide" Target="slides/slide12.xml"/><Relationship Id="Rcec0599ef6054a8c" Type="http://schemas.openxmlformats.org/officeDocument/2006/relationships/slide" Target="slides/slide15.xml"/><Relationship Id="Rd190b3f43d09481c" Type="http://schemas.openxmlformats.org/officeDocument/2006/relationships/slide" Target="slides/slide5.xml"/><Relationship Id="Rd8e1d991fa27483c" Type="http://schemas.openxmlformats.org/officeDocument/2006/relationships/slide" Target="slides/slide9.xml"/><Relationship Id="Rdac9aa4ac48e46b7" Type="http://schemas.openxmlformats.org/officeDocument/2006/relationships/slide" Target="slides/slide1.xml"/><Relationship Id="Rdef6c94cf4ed4286" Type="http://schemas.openxmlformats.org/officeDocument/2006/relationships/slide" Target="slides/slide25.xml"/><Relationship Id="Reb49b1ba859a4e33" Type="http://schemas.openxmlformats.org/officeDocument/2006/relationships/slide" Target="slides/slide11.xml"/><Relationship Id="Rf24bc70b8fca48ac" Type="http://schemas.openxmlformats.org/officeDocument/2006/relationships/slideMaster" Target="slideMasters/slideMaster1.xml"/><Relationship Id="Rfc21924163a14ecf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6f8a904dfdcf414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155151254254b9c" Type="http://schemas.openxmlformats.org/officeDocument/2006/relationships/slide" Target="../slides/slide1.xml"/><Relationship Id="R924959db5aff46f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c4773111ba14293" Type="http://schemas.openxmlformats.org/officeDocument/2006/relationships/slide" Target="../slides/slide2.xml"/><Relationship Id="R9b0e3f8ab45c418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cb919a913df43eb" Type="http://schemas.openxmlformats.org/officeDocument/2006/relationships/slide" Target="../slides/slide4.xml"/><Relationship Id="R13e718e9903e4e3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3119ab12062421b" Type="http://schemas.openxmlformats.org/officeDocument/2006/relationships/slide" Target="../slides/slide3.xml"/><Relationship Id="R328ff0876b84455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b4522bce88b42fb" Type="http://schemas.openxmlformats.org/officeDocument/2006/relationships/slide" Target="../slides/slide5.xml"/><Relationship Id="R9dedaac94f104d1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e9dc93517014320" Type="http://schemas.openxmlformats.org/officeDocument/2006/relationships/notesMaster" Target="../notesMasters/notesMaster1.xml"/><Relationship Id="Rf0a0dd40d14c46b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4f3f39a9c084bad" Type="http://schemas.openxmlformats.org/officeDocument/2006/relationships/notesMaster" Target="../notesMasters/notesMaster1.xml"/><Relationship Id="Rf1527cdba32d4d86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623b8ff5d7c34674" Type="http://schemas.openxmlformats.org/officeDocument/2006/relationships/slide" Target="../slides/slide7.xml"/><Relationship Id="Rb3cfedd345fa462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b2b6df3e2604c78" Type="http://schemas.openxmlformats.org/officeDocument/2006/relationships/slide" Target="../slides/slide9.xml"/><Relationship Id="R76c4db43d3cd4c40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7cb5c2a981d4abf" Type="http://schemas.openxmlformats.org/officeDocument/2006/relationships/slide" Target="../slides/slide10.xml"/><Relationship Id="R6ea22f1cbf2345a4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32f9d66149748cf" Type="http://schemas.openxmlformats.org/officeDocument/2006/relationships/slide" Target="../slides/slide11.xml"/><Relationship Id="Ra7be14f6e6e34e5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d0adc4e833d34ac3" Type="http://schemas.openxmlformats.org/officeDocument/2006/relationships/slide" Target="../slides/slide12.xml"/><Relationship Id="Rfc378709ffe14274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b55f9f504a5450e" Type="http://schemas.openxmlformats.org/officeDocument/2006/relationships/slide" Target="../slides/slide14.xml"/><Relationship Id="R97e0f8fc8b07491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cb6893ece2e344f2" Type="http://schemas.openxmlformats.org/officeDocument/2006/relationships/notesMaster" Target="../notesMasters/notesMaster1.xml"/><Relationship Id="Rdc0beec1280e471a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1d6e9dd01f0f4ea6" Type="http://schemas.openxmlformats.org/officeDocument/2006/relationships/slide" Target="../slides/slide15.xml"/><Relationship Id="Rf405bc49652c4e5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295de6a02b745e8" Type="http://schemas.openxmlformats.org/officeDocument/2006/relationships/slide" Target="../slides/slide16.xml"/><Relationship Id="Rf26d22064b8641c3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958e0f2b041478c" Type="http://schemas.openxmlformats.org/officeDocument/2006/relationships/notesMaster" Target="../notesMasters/notesMaster1.xml"/><Relationship Id="Rbd865fd723094765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55ba6ed9c1a4c4c" Type="http://schemas.openxmlformats.org/officeDocument/2006/relationships/slide" Target="../slides/slide18.xml"/><Relationship Id="Rcf8d5a9628dc4f44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68fd969f5cc4b30" Type="http://schemas.openxmlformats.org/officeDocument/2006/relationships/notesMaster" Target="../notesMasters/notesMaster1.xml"/><Relationship Id="R5e1e8a93ca034f08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2e6dbd00d89940d2" Type="http://schemas.openxmlformats.org/officeDocument/2006/relationships/slide" Target="../slides/slide22.xml"/><Relationship Id="Re84e0b1539ba4c0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4e1912d86ee14008" Type="http://schemas.openxmlformats.org/officeDocument/2006/relationships/slide" Target="../slides/slide19.xml"/><Relationship Id="Rbdd7118396eb44de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1f3b83a85ceb4b5e" Type="http://schemas.openxmlformats.org/officeDocument/2006/relationships/notesMaster" Target="../notesMasters/notesMaster1.xml"/><Relationship Id="Rf4a46103009f41e4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33dde257d81a4fef" Type="http://schemas.openxmlformats.org/officeDocument/2006/relationships/notesMaster" Target="../notesMasters/notesMaster1.xml"/><Relationship Id="Reb85753b86df4b54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231ef8ce1cff443a" Type="http://schemas.openxmlformats.org/officeDocument/2006/relationships/slide" Target="../slides/slide24.xml"/><Relationship Id="R40b970b3018144b6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5c6543bbdfb4a6a" Type="http://schemas.openxmlformats.org/officeDocument/2006/relationships/slide" Target="../slides/slide25.xml"/><Relationship Id="R9c31dbac47434fb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66426af0aa1f4ba1" Type="http://schemas.openxmlformats.org/officeDocument/2006/relationships/slide" Target="../slides/slide26.xml"/><Relationship Id="Ra7af7fbd61574cc5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12ccc27cd2164c3d" Type="http://schemas.openxmlformats.org/officeDocument/2006/relationships/notesMaster" Target="../notesMasters/notesMaster1.xml"/><Relationship Id="R5e943af4d5f141e6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cad1bcff53dd4e2c" Type="http://schemas.openxmlformats.org/officeDocument/2006/relationships/slide" Target="../slides/slide28.xml"/><Relationship Id="Rf5705a3d9942459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- UI screen captured in the rehearsal sandbox; every identifier is a sandbox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- UI screen captured in the rehearsal sandbox; every identifier is a sandbox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- UI screen captured in the rehearsal sandbox; every identifier and value is a sandbox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Airline cancellation policy: data/tau2/hyper/sops/airline_plus_sop.md</a:t>
            </a:r>
          </a:p>
          <a:p xmlns:a="http://schemas.openxmlformats.org/drawingml/2006/main">
            <a:r>
              <a:t>- Visual structure informed by the user-provided internal process-flow reference deck; no business content, branding, metrics, names, or system identifiers were reused.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76048de9de14ee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e9b08cd002c48ee" Type="http://schemas.openxmlformats.org/officeDocument/2006/relationships/slideLayout" Target="../slideLayouts/slideLayout1.xml"/><Relationship Id="Rc824459c845f4d01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b08cd002c48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7c415b971b546d3" Type="http://schemas.openxmlformats.org/officeDocument/2006/relationships/slideLayout" Target="../slideLayouts/slideLayout1.xml"/><Relationship Id="R8e96fdf1e08a462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a15fdce684c44fd" Type="http://schemas.openxmlformats.org/officeDocument/2006/relationships/notesSlide" Target="../notesSlides/notesSlide2.xml"/><Relationship Id="Rae5a8d954cf9454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874548de21c48cf" Type="http://schemas.openxmlformats.org/officeDocument/2006/relationships/notesSlide" Target="../notesSlides/notesSlide4.xml"/><Relationship Id="Rc68369ed44cd41d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21476c826634ea5" Type="http://schemas.openxmlformats.org/officeDocument/2006/relationships/slideLayout" Target="../slideLayouts/slideLayout1.xml"/><Relationship Id="R88ac546888ad4374" Type="http://schemas.openxmlformats.org/officeDocument/2006/relationships/notesSlide" Target="../notesSlides/notesSlide3.xml"/><Relationship Id="Rbbb822161f4548a3" Type="http://schemas.openxmlformats.org/officeDocument/2006/relationships/image" Target="../media/image.png"/></Relationships>
</file>

<file path=ppt/slides/_rels/slide5.xml.rels><?xml version='1.0' encoding='UTF-8' standalone='yes'?>
<Relationships xmlns="http://schemas.openxmlformats.org/package/2006/relationships"><Relationship Id="R435b188bae1e4b17" Type="http://schemas.openxmlformats.org/officeDocument/2006/relationships/slideLayout" Target="../slideLayouts/slideLayout1.xml"/><Relationship Id="R537078fed9a9495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aca3eb2b2184627" Type="http://schemas.openxmlformats.org/officeDocument/2006/relationships/slideLayout" Target="../slideLayouts/slideLayout1.xml"/><Relationship Id="R7d9b3894a1294d57" Type="http://schemas.openxmlformats.org/officeDocument/2006/relationships/image" Target="../media/image2.png"/><Relationship Id="R8dffccb42a1841cf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cb43824b1614556" Type="http://schemas.openxmlformats.org/officeDocument/2006/relationships/slideLayout" Target="../slideLayouts/slideLayout1.xml"/><Relationship Id="Rc24823ecb54c48c0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e0bd6da386b749b9" Type="http://schemas.openxmlformats.org/officeDocument/2006/relationships/slideLayout" Target="../slideLayouts/slideLayout1.xml"/><Relationship Id="Rf388d88ff0da42cb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2d2bcd72809e4a5b" Type="http://schemas.openxmlformats.org/officeDocument/2006/relationships/notesSlide" Target="../notesSlides/notesSlide9.xml"/><Relationship Id="Ra3508d6b5ff242bc" Type="http://schemas.openxmlformats.org/officeDocument/2006/relationships/image" Target="../media/image3.png"/><Relationship Id="Rc99c68a0950948b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85175e9c59a3471c" Type="http://schemas.openxmlformats.org/officeDocument/2006/relationships/slideLayout" Target="../slideLayouts/slideLayout1.xml"/><Relationship Id="Rb1ccf62f9005491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7d6da4098e6846e9" Type="http://schemas.openxmlformats.org/officeDocument/2006/relationships/slideLayout" Target="../slideLayouts/slideLayout1.xml"/><Relationship Id="R83d325a061434d9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f6cd68e5c7e4337" Type="http://schemas.openxmlformats.org/officeDocument/2006/relationships/slideLayout" Target="../slideLayouts/slideLayout1.xml"/><Relationship Id="R9717b0414576402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4eaf75b15af14e35" Type="http://schemas.openxmlformats.org/officeDocument/2006/relationships/notesSlide" Target="../notesSlides/notesSlide14.xml"/><Relationship Id="R5d8f5ba39d32493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85342f22c854bac" Type="http://schemas.openxmlformats.org/officeDocument/2006/relationships/slideLayout" Target="../slideLayouts/slideLayout1.xml"/><Relationship Id="R9786071e20ef4528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b617ed64d9034f53" Type="http://schemas.openxmlformats.org/officeDocument/2006/relationships/notesSlide" Target="../notesSlides/notesSlide15.xml"/><Relationship Id="Rc4da7cd1c46349d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5d74254d740475f" Type="http://schemas.openxmlformats.org/officeDocument/2006/relationships/slideLayout" Target="../slideLayouts/slideLayout1.xml"/><Relationship Id="R8989391d8c13444b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9882875cb2bb4176" Type="http://schemas.openxmlformats.org/officeDocument/2006/relationships/notesSlide" Target="../notesSlides/notesSlide17.xml"/><Relationship Id="Rbd2cb6e7e98540d5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8149e4a9c5e42fe" Type="http://schemas.openxmlformats.org/officeDocument/2006/relationships/notesSlide" Target="../notesSlides/notesSlide18.xml"/><Relationship Id="Raeeac090e17643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6530449ddf9d4896" Type="http://schemas.openxmlformats.org/officeDocument/2006/relationships/slideLayout" Target="../slideLayouts/slideLayout1.xml"/><Relationship Id="R97dd017e71a54a57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92aca6873a5947e8" Type="http://schemas.openxmlformats.org/officeDocument/2006/relationships/notesSlide" Target="../notesSlides/notesSlide22.xml"/><Relationship Id="Refebcfa1c5da44c0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5a2164eeee834584" Type="http://schemas.openxmlformats.org/officeDocument/2006/relationships/notesSlide" Target="../notesSlides/notesSlide19.xml"/><Relationship Id="Rf1f48325cca8478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1320004147704b13" Type="http://schemas.openxmlformats.org/officeDocument/2006/relationships/slideLayout" Target="../slideLayouts/slideLayout1.xml"/><Relationship Id="Rdd79409c1b564a25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537eb5cef5174b3e" Type="http://schemas.openxmlformats.org/officeDocument/2006/relationships/notesSlide" Target="../notesSlides/notesSlide23.xml"/><Relationship Id="Rb733878ce37345b9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5015251be88e4326" Type="http://schemas.openxmlformats.org/officeDocument/2006/relationships/notesSlide" Target="../notesSlides/notesSlide24.xml"/><Relationship Id="Rde9fa6ee38b74ccb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6c1e7c33f8ed4789" Type="http://schemas.openxmlformats.org/officeDocument/2006/relationships/notesSlide" Target="../notesSlides/notesSlide25.xml"/><Relationship Id="R92c9a5ea32504b15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1f9c0ee98345479f" Type="http://schemas.openxmlformats.org/officeDocument/2006/relationships/slideLayout" Target="../slideLayouts/slideLayout1.xml"/><Relationship Id="Ra8a6b616552b4bdb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803afe9bcbb440cb" Type="http://schemas.openxmlformats.org/officeDocument/2006/relationships/notesSlide" Target="../notesSlides/notesSlide27.xml"/><Relationship Id="Ra8acf963a99044d4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1e4a6b9d3217453c" Type="http://schemas.openxmlformats.org/officeDocument/2006/relationships/slideLayout" Target="../slideLayouts/slideLayout1.xml"/><Relationship Id="Re29326212a3f4112" Type="http://schemas.openxmlformats.org/officeDocument/2006/relationships/notesSlide" Target="../notesSlides/notesSlide28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71A4A-E82C-47AA-818B-36531341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Current-state workflow, calibration, and operator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Working process workbook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Prepared for workflow review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Version 0.6 • Meridian Airlines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WORKBOOK CONTENTS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Journey and request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Controls and refund handling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Calibration and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How to Use This Working Packet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WORKBOOK 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Governing references are interleaved with screens and calibration material. Context pages do not add cancellation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the current-process label.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Follow page references, not file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Treat exercises as non-governing.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THE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observed UI from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dates on working notes.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historical options in context.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Join the governing process pages.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negative and default branches.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the complete workflow before use.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ORIENTATION COMPLETE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8C3CAE-2CF7-4B6C-95E1-696831D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— High-level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191E1-8DB7-4890-991F-312E3B9A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9B448-B376-4A93-B024-EF79BE2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14565-2CBC-4211-9B33-011A68C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295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FA8D1-52E5-4B10-9A31-E5D6C3B3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1D6D9-264B-44CB-9CD7-40FD2AB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62050"/>
            <a:ext cx="49530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BAC06-080F-4F75-8ABF-CA9C734F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0572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ELIGIBILITY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84A21-A7C2-429D-8CC9-7511606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62050"/>
            <a:ext cx="3238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8BDD3-356D-4914-BAA4-EDD840A2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572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 AND CLOSE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A547A-318B-46A4-BAED-506FAB90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952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Customer asks to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 a reservation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2B364-7ADF-419B-B25F-81C1032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Get reservation identifier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03E90-E69E-41DE-A3AE-31C8716D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1381125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Identifier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available?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19AA4-958A-47F8-B766-8424C8A4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Open customer profile;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locate the reservation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2F804-A93D-4721-8E22-C92ED63B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716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Ask why the customer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wants to cancel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8C715-D78B-492F-847A-47094E1B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every segment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0302C-A908-4F3B-87C4-EF25EEDF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85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Any segment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flying / landed?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7C045-AC68-46D4-AECA-B61D17C7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719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Evaluate allowed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87C62-0DAE-4A91-9FFF-BD6DE1A5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5240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Allowed condition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met?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349F0E-689B-4DEE-8C0A-38BB0A8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Apply segment-status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handling per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02963-F9E5-4B15-B59F-CDD3415F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Explain cancellation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cannot be processed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7EA58-E16F-4F33-9518-1672058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720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request;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process cancellation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C058B-8DF8-48FE-B2AE-34EB1420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292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Start refund workflow</a:t>
            </a:r>
          </a:p>
        </p:txBody>
      </p:sp>
      <p:cxnSp>
        <p:nvCxnSpPr>
          <p:cNvPr id="13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52613" y="212407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3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852613" y="29908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3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543175" y="1847850"/>
            <a:ext cx="1504950" cy="1876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39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838325" y="4114800"/>
            <a:ext cx="14288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933700" y="1847850"/>
            <a:ext cx="1114425" cy="2952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095875" y="21240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43625" y="2828925"/>
            <a:ext cx="33337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3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001000" y="2247900"/>
            <a:ext cx="1095375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E13F33"/>
            </a:solidFill>
            <a:prstDash val="solid"/>
            <a:tailEnd type="arrow" w="sm" len="sm"/>
          </a:ln>
        </p:spPr>
      </p:cxnSp>
      <p:cxnSp>
        <p:nvCxnSpPr>
          <p:cNvPr id="144" name=""/>
          <p:cNvCxnSpPr>
            <a:stCxn xmlns:a="http://schemas.openxmlformats.org/drawingml/2006/main" id="16" idx="2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143625" y="3286125"/>
            <a:ext cx="1095375" cy="7429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143625" y="4029075"/>
            <a:ext cx="33337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14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001000" y="3676650"/>
            <a:ext cx="1095375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cxnSp>
        <p:nvCxnSpPr>
          <p:cNvPr id="147" name=""/>
          <p:cNvCxnSpPr>
            <a:stCxn xmlns:a="http://schemas.openxmlformats.org/drawingml/2006/main" id="18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239000" y="4476750"/>
            <a:ext cx="1857375" cy="3905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14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51625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93D73D-7284-4422-8419-36FDB183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717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63B329-14C7-4AB6-976E-732398FD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F423D6-FE46-4F13-8F7D-6D75E751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623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2F8529-D676-48D4-B8CF-9507A357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7F22A6-A895-4208-A424-79B02C4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E750C2-A525-455C-A4BB-DA815486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76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B8C230-1187-4868-91D6-CC0859C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6FE8EB-8041-4206-8A45-03568B33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9572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271250-16D1-46FA-A82B-1C35B91E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Operating Screen — Reservation Lookup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B3C12-0DCB-4CFF-A75D-C46C395C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REHEARSAL SANDBOX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645E6-BAC8-45E4-ADC6-316A878D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822161f4548a3"/>
          <a:stretch xmlns:a="http://schemas.openxmlformats.org/drawingml/2006/main"/>
        </p:blipFill>
        <p:spPr>
          <a:xfrm xmlns:a="http://schemas.openxmlformats.org/drawingml/2006/main">
            <a:off x="457200" y="1074852"/>
            <a:ext cx="7858125" cy="442254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1609E-3F7C-4689-AC7E-6863974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309562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549A0-47EC-4864-B0D0-F4074F69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334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THE OPERATOR IS DOING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88DB4-8F02-46E5-9A0F-FBFAF860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E2A40-0101-4205-9544-5976EA0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002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Locate the correct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E4821-5507-4D03-89AA-A0BFC49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47875"/>
            <a:ext cx="220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Use the reservation identifier. If the customer does not have it, use the customer profile to locate the trip.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FB1F4-EA2E-4940-94BC-CC19C34C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29626-8BB8-4415-A10E-9ED09310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3847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Verify itinerary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4266F-2876-4A3B-9D98-6E8B1E61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86125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Confirm the displayed traveler and itinerary belong to the request before continuing.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DC753-D0AD-4B4C-9E8B-314D8AB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9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033E4-B2FE-496D-A175-B57ED2C3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8147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Continue to reason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4E09B-D014-4773-9733-8CEEE66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29125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 lookup screen provides context; it does not determine cancellation eligibility.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FE0DC-C319-4B15-B02B-5E6E232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483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 i="1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66747B"/>
                </a:solidFill>
                <a:latin typeface="Arial"/>
                <a:ea typeface="Arial"/>
                <a:cs typeface="Arial"/>
              </a:rPr>
              <a:t>Operator screen captured in the rehearsal sandbox; records shown are sandbox fixtures.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83429-1446-44A8-8A21-83F9182A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14E35-2E25-4636-BD52-D4FD6CE3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4396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21F8C-3DC8-4A64-BD72-19C0F2B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Operator reference, screen evidence, and calibration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Section divider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Current workbook section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Examples remain non-governing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lookup 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Reason-capture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Quality calibration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Evidence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BE6115-1404-4D9B-AA4E-41666267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Operating Screen — Segment Status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26281-BDF3-4EC1-9E3C-7B62061F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REHEARSAL SANDBOX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C0343-90EE-4493-85F6-E4805EC5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b3894a1294d57"/>
          <a:stretch xmlns:a="http://schemas.openxmlformats.org/drawingml/2006/main"/>
        </p:blipFill>
        <p:spPr>
          <a:xfrm xmlns:a="http://schemas.openxmlformats.org/drawingml/2006/main">
            <a:off x="460409" y="1066800"/>
            <a:ext cx="8089833" cy="4552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9E25B-278C-4451-859E-3B952FA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57300"/>
            <a:ext cx="285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9F938-9628-404F-B5E3-CB012B7E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525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0036E-54D1-4ED3-AF98-114EFADE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B916C-DFEA-4CF3-B3B3-C9774FB4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every segment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B40BC-D017-41E8-BD2B-14C06893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971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Read status across all rows in the itinerary. Do not infer the whole trip from a selected row.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BE807-B2E2-455C-B807-04AC3B9F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6B593-32D0-49D0-A375-8AB8D545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289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current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39958-C787-405A-B911-B0FACB86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76625"/>
            <a:ext cx="19716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A flying or landed segment changes the handling path; read the status as it stands right now.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2D522-EA39-4440-A6C9-93E0E00D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SCREEN CAVEAT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1FF2A-F516-490F-B99E-9F979C9D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91075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The interface may show status and timestamps, but the operator applies the policy sequence.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0A7CF-5D35-4083-9555-CED4E07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57D3D-DC6B-4831-B4C2-D541FB8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776664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Reason-Capture Calibration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CALIBRATION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These prompts help reviewers compare case wording. They are exercises and do not establish reason categories or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the request from background.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the customer’s own wording.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Clarify ambiguous chronology.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that the note is complete.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adding an unstated motive.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examples distinct from guidance.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QUESTIONS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 another reviewer follow the note?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Is the request still current?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Does the record identify open questions?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EXERCISE — NOT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A1A0C4-0670-4AF1-878A-04C16625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 Capture — Operator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863A6-7294-4F3C-89D7-E02137F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STEP / PURPOSE / SYSTEM /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504E5-0FD5-49B0-BDFD-5909852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95A1A-7B45-49F5-A1BA-F3EAC97A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Capture one reason before evaluating eligibility. The reason label is an input to the decision flow; it is not the decision by itself.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3C8DA-C5D5-401C-A6BB-90619EA7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66975-BA79-409F-A865-09EBCA8A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2141D-AFC9-4D35-B9D2-FBDB849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28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E5784-45C5-4E02-8733-D22BC0F6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76200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 / 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25EA2-6364-4843-90C2-84C9F0C9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1. Open reservation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819EF-1CB0-43AA-BA1E-9685E795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71650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Anchor the request to the correct trip.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B4953-D277-4D55-AF60-DA0560C1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71650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2F13C-8129-43D4-A81D-B81DC32D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71650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Lookup / itinerary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467C2-57BE-4E64-8434-B6C3386F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1269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2. Ask cancellation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4AC01-E8A5-4E60-B12E-48F2A424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1269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the customer’s stated reason before checking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CF913-9FA9-4377-8019-8303E9DC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31269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Customer conversation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75B10-8ED3-4324-9878-82900442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1269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Agent dialogue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398B5-4E85-4614-AEB1-FD7D4401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0888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3. Select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B6C38-1B91-4F88-8D3D-DE0ADFDE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0888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one of the supported reason categories.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A049B-052D-4F0C-B37B-14F56709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90888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0B97F-6C6B-4E4C-9D2A-90A5711D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0888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Reason drop-down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A0C24-7AD7-47A6-96B1-33131EC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0506"/>
            <a:ext cx="18097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4. Continue to eligibility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74D47-DDA7-4A43-861D-90D461F1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50506"/>
            <a:ext cx="342900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Evaluate status and allowed conditions in the required order.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5DD50-512C-41CD-8803-D13D4E84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50506"/>
            <a:ext cx="2381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Operator procedure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50311-15A2-4E79-9EF1-4ACCAA74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0506"/>
            <a:ext cx="3524250" cy="759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2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checklist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92232-6D9C-4192-96D1-102C992A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A144B-4620-491F-8800-A4D17B1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149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 CANCELLATION REASONS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58714-4002-4D95-99BC-11238501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Change of plans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E47F13-39B7-495F-9A2A-954280B7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6735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Airline cancelled the flight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E300A3-47A0-4D60-BB48-02509D8F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Covered reason under trip protection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49629-4C61-4557-BC82-135A716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91200"/>
            <a:ext cx="31432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76BD12-4DBC-491B-9426-E5DD75B5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OPERATOR NOTE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AE4550-7A1C-48BA-8136-A47C1FFF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91150"/>
            <a:ext cx="35623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paraphrase a reason into a different category solely to reach a desired outcome.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10E323-13CE-4AEB-B707-CAF914FA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14E1D6-7EC0-4A55-ACE8-F967838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79033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38C897-DFA5-4448-8C00-E032D59F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Operating Screen — Refund Workbench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F1CA0-E4C4-40B0-B419-35EA5D4A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REHEARSAL SANDBOX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8F279-7700-4D23-AA62-9999C87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08d6b5ff242bc"/>
          <a:stretch xmlns:a="http://schemas.openxmlformats.org/drawingml/2006/main"/>
        </p:blipFill>
        <p:spPr>
          <a:xfrm xmlns:a="http://schemas.openxmlformats.org/drawingml/2006/main">
            <a:off x="457200" y="1069158"/>
            <a:ext cx="8115300" cy="45672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845C2-5B6E-4BD2-AB42-BAC2CC17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57300"/>
            <a:ext cx="285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7C27E-BE96-472E-90C7-2AFAA2CC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525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OPERATOR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C320E-F8CD-49D0-974C-52BCFEEE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B5907-7CD4-401E-8631-9D03AA4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original-payment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8D0F8-002A-4C29-A319-69CB2257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9716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Refund allocation follows the payment methods used for the original purchase.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B37FB-C8CE-4495-B0DB-06C2EAAE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90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3F33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19050" tIns="38100" rIns="19050" bIns="19050" anchor="ctr">
            <a:normAutofit fontScale="99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60EAD-2475-489A-B69F-DBF1554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Validate before submit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34AD6-88D9-48C9-93A3-06A1672B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9716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Confirm the allocation and only submit after the cancellation eligibility review is complete.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61B00-FFBD-4267-A671-6B1CBDF5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CUSTOMER EXPECTATION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04D97-83C7-4B9E-AE58-308EE22F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91075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After submission, set the arrival expectation from the ratified refund window.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17002-D904-43F6-AD08-E250CB26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8BF27-DE7A-4D1F-9D4C-93C8DED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09349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3B0E7E-8962-47AD-9659-19DDC2BA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Gate 1 — Segment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22B89-CC76-4D0D-99F8-66BEAB28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CHECK BEFORE ALL OTHER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E0CF-A91B-499C-B7D8-6ACC1DCC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4ACA8-34BB-4F46-A122-C78A94C3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7334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D47E6-3DE6-426E-8157-6F92A507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RESERVATION AND SEGMENT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5A7E8-CCA9-46BE-BE5D-401341A1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85875"/>
            <a:ext cx="3714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A28AE-C169-4B57-B69E-A7405720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811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0B0BF-AEA0-4C03-B27F-3055BEC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Open itinerary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83183-A655-41B7-862F-0FE17827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907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List every flight 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F3966-A4D7-4361-9BD3-E0793E17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Read current status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for each 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28E42-DB9D-4ECA-AC7E-16048AF2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95625"/>
            <a:ext cx="2095500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Is any segment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FLYING or LANDED?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280B6-7973-4CDE-B209-BBABD7B2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the status finding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7711B-3A37-4303-B77D-3481E4ED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See the desk servicing 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2DA42-C4BA-43F4-AEAF-7882C9C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Continue to allowed-condition review</a:t>
            </a:r>
          </a:p>
        </p:txBody>
      </p: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71750" y="20383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62550" y="20383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429125" y="2381250"/>
            <a:ext cx="2143125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476875" y="2533650"/>
            <a:ext cx="3190875" cy="1123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E13F33"/>
            </a:solidFill>
            <a:prstDash val="soli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858375" y="28289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13F33"/>
            </a:solidFill>
            <a:prstDash val="soli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11" idx="2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429125" y="4219575"/>
            <a:ext cx="4238625" cy="6667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2568F0-EE90-421A-90E8-79EEC776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575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E13F3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E13F3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89AD41-2994-4209-B2A5-2FE6562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815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1511B-6705-494F-84D7-D74E2750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STATUS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205D1-39B1-4A7C-A483-6846574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all itinerary rows, not only the first or selected 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Example statuses displayed by the tool may include scheduled, delayed, flying, landed, or cancelled.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94DAF-9E9C-4FAD-BEA1-D1536C9B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8F5C8-2323-4D15-B886-15CA5BCB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51207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B1F32-FDA3-4525-9E1B-09002A09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Current gates interleaved with calibration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Section divider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Current workbook section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Use governing pages for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Evidence checklist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Alternative-condition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Near-miss calibration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Insurance and default reference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Review — Evidence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WORKING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Use this page to locate evidence before consulting the governing eligibility references. It creates no additional eligibility condition.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ITINERARY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Locate every itinerary segment.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the current status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Launch-era 48-hour grace is retired.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the relevant customer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stated facts from assumptions.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inferring from visual emphasis.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Grace window: read the eligibility matrix.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all alternative branches.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Document which evidence was used.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CHECKLIST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Alternative-Branch Calibration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FACILITATOR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Reviewers practice following alternative branches without turning examples into new exceptions. The governing diagram remains authoritative.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Read the full scenario first.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Mark facts that remain uncertain.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Ignore decorative callouts.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Trace one branch at a time.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Return to the shared entry point.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combine separate examples.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DEBRIEF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reasoning, not outcomes alone.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Name any unsupported assumption.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Recheck the governing page.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EXERCISE — NOT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CFBDC0-08CD-4271-B727-42518562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Gate 2 — Alternative Allowed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F2E23-AAA7-49FB-AF29-18AAF2A3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ANY ONE CONDITION IS SUFFICIENT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77037-6A96-4C53-BB3B-5E43A292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34C5E-1682-40A8-AAE1-DFA83BB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Run this sequence only after confirming that no segment is flying or landed.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797A2-B932-46F5-8310-BD037319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8001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7390A-46B6-48DD-A6CA-E21A681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 IN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01463-6383-497F-88BB-96D0B911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81125"/>
            <a:ext cx="304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E0C84-AE20-4AFD-ACCC-2156C287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76350"/>
            <a:ext cx="71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D2B5D-03DF-4AA7-89CE-ECFFA0E7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00250" cy="990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46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created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in the booking-grace window?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8BBA5-52A3-4A70-8D56-6C980309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000250" cy="990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96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Did the airline cancel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one of the flights?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8899F-B917-41FE-AF14-BAC31FE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000250" cy="990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Is the reservation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in an eligible cabin?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68991-FF0C-48D8-A1E7-BBB07239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insurance branch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42FCE-B9E1-4052-903B-C3327FB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allowed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5128B-7585-4CB3-87B9-80B92801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No match yet: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continue to insurance / default branch</a:t>
            </a:r>
          </a:p>
        </p:txBody>
      </p:sp>
      <p:cxnSp>
        <p:nvCxnSpPr>
          <p:cNvPr id="88" name=""/>
          <p:cNvCxnSpPr>
            <a:stCxn xmlns:a="http://schemas.openxmlformats.org/drawingml/2006/main" id="9" idx="0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952625" y="1952625"/>
            <a:ext cx="8239125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52750" y="2447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90" name=""/>
          <p:cNvCxnSpPr>
            <a:stCxn xmlns:a="http://schemas.openxmlformats.org/drawingml/2006/main" id="10" idx="0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476750" y="1952625"/>
            <a:ext cx="4619625" cy="6381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9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76875" y="2447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9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001000" y="2447925"/>
            <a:ext cx="10953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93" name=""/>
          <p:cNvCxnSpPr>
            <a:stCxn xmlns:a="http://schemas.openxmlformats.org/drawingml/2006/main" id="11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486400" y="2943225"/>
            <a:ext cx="1514475" cy="13335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94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86400" y="4276725"/>
            <a:ext cx="3609975" cy="104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DD4C4-A2D1-42E0-AFCA-159E79EE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71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31C96-F5A6-4240-9123-C5383ACE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DD51D-4CFA-4C67-8BEE-03DD00F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71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EC0F4-0C79-438E-987A-1E13C200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24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CFC38-74D7-4B10-BD36-66C5C72D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D0966-A532-4DB9-87CD-9840E088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F632B-8319-4D34-80F7-60AAFC8B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DATA READS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CFC23B-87C9-40BE-96C1-EFFFF29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6477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Creation timestamp compared with current system time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Segment disruption status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Reservation cabin value — scope per the desk servicing reference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957C62-8BA9-4A7D-85F9-BDEA915B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6B44B-98A5-4744-9A3A-FA3AFD5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25470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Near-Miss Scenario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QUALITY CALIBRATION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Near-miss cases test evidence discipline. They are rehearsal cases from the training sandbox and do not broaden or narrow the current cancellation process.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Identify the missing fact.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Flag inconsistent timestamps.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intent from eligibility.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only visible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complete the scenario mentally.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why a branch is unresolved.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reviewer interpretations.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Resolve source disagreements first.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Return to the current reference.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REHEARSAL CALIBRATION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0A70AA-CE51-4189-9683-2356B5F5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Gate 3 — Insurance and Default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8038D-EADB-4575-8C3D-728CA6B6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FINAL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DBE78-978A-4E22-9F88-BFB56D8E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CD700-FF41-444E-9568-82636C5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95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B90B-930C-4610-ABAF-3BD324F1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INSURANCE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9B08E-1C2F-4150-9325-AB0FF88A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810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85A90-AFD1-4FAE-95B4-45C68FF1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763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378FF-0C3C-4895-9104-92B14C40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2143125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886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Does the reservation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have travel insurance?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B4192-3494-4085-A7D4-401390E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2143125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7F86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Is the reason covered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by the protection terms?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2CECD-775E-4D1F-A690-F9D2DD4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allowed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D69BC-4BFA-4710-98AE-36CDB2A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cannot be processed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E98C5-F978-4272-8984-12CE27E9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Explain the outcome;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0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submit the action</a:t>
            </a:r>
          </a:p>
        </p:txBody>
      </p:sp>
      <p:cxnSp>
        <p:nvCxnSpPr>
          <p:cNvPr id="7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81375" y="26574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667500" y="2466975"/>
            <a:ext cx="19050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8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09813" y="3219450"/>
            <a:ext cx="6262688" cy="10096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9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95938" y="3219450"/>
            <a:ext cx="2976563" cy="10096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739313" y="460057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7918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BBFC5-15ED-4D0B-B2CB-73DD57F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669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99FEB-5791-4CC3-B679-7A5F5066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669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5E1E1-4108-47F8-9EEB-62D5531D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54C27-05C1-495F-8583-A733AA2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433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63F66-4109-46D2-8A58-91D3AEB7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F1013-E205-436B-83C7-91B66DB6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542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B8791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If none of the alternative allowed conditions applies, the reservation cannot be cancelled through this workflow.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A7CEF-158C-4CC8-B591-C65036BB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5ED1C-2598-4BE5-9851-2EB84E02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227137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FCB1B-9BA2-465C-9E69-A2FBD18C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Controls and Refunds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Control points, field mapping, and expectation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Section divider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Current workbook section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Implementation notes are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Control-point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Governing refund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Data-mapping workshop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Expectation-language exercise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Control-Point Review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IMPLEMENTATION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This page records review ownership and evidence handoffs. It does not establish process order, eligibility, or refund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Operations owns process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Quality owns calibration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Product owns change tracking.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Link screenshots to review dates.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sandbox capture labels.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Archive obsolete walkthroughs.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Assign open evidence questions.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the next review forum.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proposals out of current guidance.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CONTEXT — NOT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Supervisor-Handoff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ENABLEMENT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 team is reviewing handoff clarity and ownership. Queue names and example wording here are not cancellation policy.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HANDOFF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Capture why review is needed.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the customer’s stated request.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promising a downstream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the receiving owner.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context arrives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unresolved evidence gaps.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ENABLEMENT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sandbox rehearsal cases.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handoff summaries.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Log follow-up for the next session.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ENABLEMENT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Expectation-Language Exercise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QUALITY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Reviewers compare clear and unclear explanations after a simulated submission. Examples do not define timing or payment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State what was reviewed.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action from expectation.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account details minimized.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RISKY ASSUMPTIONS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inventing a processing state.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 not generalize one fixture.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Flag unexplained certainty.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DEBRIEF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the two explanations.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Identify missing context.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Return to the governing reference.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EXERCISE — NOT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59DFDA-FBFE-4BA8-80A2-7F27BDD2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Control Point and Refund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F70A1-3C24-4966-B0AB-5F0335F2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OPERATOR-ENFORCED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4932E-BE08-457F-858D-7560D1C8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1B6FD-23B5-456A-9DCC-E440FBF1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28612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EDB02-566F-4D89-B5B3-20A42B09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76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02C9D-7D39-4BA8-BC76-D1941200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3524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D4459-2F7B-4119-A3EF-79280BC2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76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CANCELLATION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802FA-1A3B-4EA3-8A78-B77C0BD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395287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8B767-7285-40AE-83C8-765A9E19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76350"/>
            <a:ext cx="71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63662-D707-486D-9B1F-8C7A0576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524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E13F33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The system does not enforce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cancellation eligibility.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61403-121B-4131-8685-1E292E95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The operator must verify the complete eligibility sequence before using the cancellation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6B964-C4A6-4A08-9CA0-943526D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52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CONTROL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DA13B-BB2D-414C-BF13-B038C97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05325"/>
            <a:ext cx="2524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reviewed reservation, reason, status check, and matched condition in the case notes.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4B16A-B98C-4675-9D80-3C49F708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Eligibility review 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484CA-0CBD-4506-B1A5-1ED118FD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577CFF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Confirm customer wants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975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to proceed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CE951-5A87-4F2A-A273-1C3488B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Submit cancellation</a:t>
            </a:r>
          </a:p>
        </p:txBody>
      </p:sp>
      <p:cxnSp>
        <p:nvCxnSpPr>
          <p:cNvPr id="77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762625" y="25527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126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762625" y="3724275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A36C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6FB5B-5BC9-4AFE-BA43-EFEE1D5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Return funds to the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original payment method(s).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0B8E2-DDF4-4AC3-94D1-1E1D6B53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31A36C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Tell the customer when the refund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will arrive, per the ratified window.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289D0-07D7-436F-AC92-21A136D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MULTIPLE PAYMENT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954F5-5A5D-4BFB-BCF4-16E8BD31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91075"/>
            <a:ext cx="2809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66675" tIns="6667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50" b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When the original purchase used more than one method, review each original-payment row before submission.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7F1B9-FF12-401B-8AF1-1E3E45C1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6A31C-5234-4EE5-8159-0136ACBA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924583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Refund Data-Mapping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WORKING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These implementation questions concern field mapping and review evidence. The governing refund reference appears on the preceding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Inventory available payment 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Note missing source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Preserve sandbox fixture markers.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DISPLAY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Arrival drafts: 10 vs 12 business days.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long labels for clipping.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screen-version dates.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QUESTIONS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Arrival-window sign-off: change forum.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Schedule a fixture replay.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workshop ideas non-governing.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WORKSHOP NOTES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94441-C308-46FE-8A33-08E625A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0BD4D-B732-442D-8F7F-72B66BAA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MERIDIAN AIRLINES • RESERVATIONS SERVICING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7BFE-41DA-438C-86DE-A0D49E3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Calibration and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7144-B0E3-42F4-B951-15097AA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37F8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7F86"/>
                </a:solidFill>
                <a:latin typeface="Arial"/>
                <a:ea typeface="Arial"/>
                <a:cs typeface="Arial"/>
              </a:rPr>
              <a:t>Quality, implementation, measurement, and source hygiene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6B39-FBF3-4531-ABD6-61BE217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Section divider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7A27-C89D-4377-B79A-A83FAF4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Working appendix section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 additional policy is established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FAD-ACDF-4510-9A8D-303E2D8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2D3-0BD1-4023-9834-55D99B0A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23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10D6F-4777-482B-A3C0-E8866704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9154-5C01-46BB-8FF5-B9DEB3B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Quality calibration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C32C1-8A89-45F2-AB1D-044AD8B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14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97F-4EFA-41A6-B3A6-40FC719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53B-C9AF-465C-A914-4F8B9890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Implementation 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4ED3-35B3-4D39-9738-9A0A947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93339-FE5F-430C-86C2-67FB47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7BCBE-8829-4456-AA6B-BEE3BCE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Measurement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FEBC-E14A-4F80-9497-9C7C32B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E02-C09F-482A-B8FC-23E717D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B85E8-5E06-4934-8DC9-D21A121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Closing source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059A-A3A8-4754-80B1-AC3F77C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AD8C0-D88C-4076-A405-D74605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965151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Quality Calibration 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CALIBRATION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Quality reviewers use these prompts to compare evidence handling. The prompts are process-neutral and introduce no cancellation requirement.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Cite the governing page used.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Name any unresolved input.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Keep examples subordinate.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REASONING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Explain the selected branch.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the default path.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UI behavior from policy.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reviewers on one fixture.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Resolve source disagreements.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Document the calibration result.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CALIBRATION COMPLETE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Implementation Readiness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READINESS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Readiness items track ownership, test data, rendering, and review logistics. They do not alter the current operating process.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Verify every source file opens.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page references after export.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Retain editable deck sources.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Use sandbox reservation fixtures.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timestamps and statuses.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the tested screen version.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Assign each open question.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Name the approval forum.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Archive superseded materials.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READINESS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Measurement Working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ANALYTICS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Candidate measurements remain under definition. No metric, threshold, or sample shown here establishes customer-service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Define the review population.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Separate attempts from completions.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Record exclusion criteria.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Check missing source fields.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Compare channel definitions.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Avoid combining unlike counts.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Name the baseline window.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Document unresolved caveats.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Present results with definitions.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METRICS NOT YET APPROVED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Future-State Ideas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NOT CURRENT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The entries on this page are workshop ideas only. None is approved, effective, or part of the current cancellation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Explore a unified review screen.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Consider clearer source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Test alternate training formats.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Requires architecture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Requires quality evidence.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Requires operations ownership.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Write a scoped proposal.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Review in the change forum.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Publish only after approval.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PROPOSALS — NOT CURRENT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65E22-1056-44F5-8533-90E8AE4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Workbook Readiness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7C70C-8900-479C-B23A-F878C67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CLOSING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C84C-5DC3-4888-89A2-66D4B62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solidFill>
              <a:srgbClr val="31A36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B9FB-4596-48BC-A569-23C8AF87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Complete this document-quality review before using the packet. The checklist does not replace the governing process pages.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648E-B8B3-4039-9C15-4600870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1A52-7362-46FD-BDE6-FC33375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36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8B1B-6586-4223-A3FC-CFBF143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BA78-A571-4A49-812E-07C5B4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All governing pages are present.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366CA-BA8A-4727-8ED5-C1F9A15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DEA35-9202-46FB-8CAC-CE03913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CB5F5-3E58-4A87-90C4-1B2E7BF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Context pages carry status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7562-51E7-41AC-9166-BC07E6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B353D-2950-4340-9066-DACCCDC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1A3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1A3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EF43-ABF4-4330-B34A-84D325B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Examples remain subordinate.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5089-6137-41DF-8A10-5E31068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2348B-82DF-427C-84C3-9790388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BB4AE-C369-49C1-B5A9-BC35788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3C4F-236B-413B-BC5E-BA1F7B5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No text is clipped or hidden.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1AB1D-C1B7-4B8E-9A9B-50072D4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161A1-B5D5-4585-BA55-3138833F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44FE3-9521-40CA-9416-220EA3C9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Page references match the export.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E714-2295-4216-9B42-2C5D6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1460-0DDF-46B9-A099-58DA357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7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77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C538F-0F3B-4006-B50C-BF0CDE1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Sandbox screen captures remain legible.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15EF-6907-47AA-8B42-84F4AB0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05F88-3E7B-4EA7-BF0F-E5AFC28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EBCE-A88F-4230-A563-B78A2882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24DBB-BC32-4CB2-8278-A5E7A6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Current and future states are separate.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B1C1-A18B-4512-9980-DE9AA28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B6403-E5A1-46A3-869A-E032939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525B-B555-41C2-8479-B1C2C5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14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Open questions have owners.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CC1BB-AEA6-42BE-9D37-695FFFE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CDD5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0F906-0700-4635-9D8E-18203AB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79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79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C0BAA-AEC3-4DE5-BF33-B511C56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90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72126"/>
                </a:solidFill>
                <a:latin typeface="Arial"/>
                <a:ea typeface="Arial"/>
                <a:cs typeface="Arial"/>
              </a:rPr>
              <a:t>Editable sources are retained.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DB56B-4094-459D-ACA6-8C8CB81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22860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1">
                <a:solidFill>
                  <a:srgbClr val="1721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6"/>
                </a:solidFill>
                <a:latin typeface="Arial"/>
                <a:ea typeface="Arial"/>
                <a:cs typeface="Arial"/>
              </a:rPr>
              <a:t>END OF WORKBOOK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38B11-BF06-4940-A89E-7EFCB27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Meridian Airlines — internal working material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7B7B-025D-4B37-A221-5F5753B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66747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6747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15672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Application>LibreOffice Impress</Application>
  <PresentationFormat>Widescreen</PresentationFormat>
  <Slides>28</Slides>
  <Notes>28</Notes>
  <HiddenSlides>0</HiddenSlides>
  <MMClips>0</MMClips>
  <ScaleCrop>false</ScaleCrop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Cancellation Operations Workbook</dc:title>
  <dc:subject>Cancellation workflow and operator reference</dc:subject>
  <dc:creator>Reservation Operations</dc:creator>
  <cp:lastModifiedBy>Reservation Operations</cp:lastModifiedBy>
  <cp:revision>2</cp:revision>
  <dcterms:created xsi:type="dcterms:W3CDTF">2024-05-06T15:35:00Z</dcterms:created>
  <dcterms:modified xsi:type="dcterms:W3CDTF">2024-05-08T13:15:00Z</dcterms:modified>
</cp:coreProperties>
</file>