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76aebaa73f4e28" /><Relationship Type="http://schemas.openxmlformats.org/officeDocument/2006/relationships/extended-properties" Target="/docProps/app.xml" Id="R08813a87a8a7405e" /><Relationship Type="http://schemas.openxmlformats.org/officeDocument/2006/relationships/officeDocument" Target="/ppt/presentation.xml" Id="R095a4106974b47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1d8bf0c2c9435f"/>
  </p:sldMasterIdLst>
  <p:notesMasterIdLst>
    <p:notesMasterId xmlns:r="http://schemas.openxmlformats.org/officeDocument/2006/relationships" r:id="Raa8bf73aa63a45dd"/>
  </p:notesMasterIdLst>
  <p:sldIdLst>
    <p:sldId xmlns:r="http://schemas.openxmlformats.org/officeDocument/2006/relationships" id="256" r:id="Rc2953481d314460e"/>
    <p:sldId xmlns:r="http://schemas.openxmlformats.org/officeDocument/2006/relationships" id="257" r:id="Rc2be266265814b47"/>
    <p:sldId xmlns:r="http://schemas.openxmlformats.org/officeDocument/2006/relationships" id="258" r:id="R8d9d70b855144ee1"/>
    <p:sldId xmlns:r="http://schemas.openxmlformats.org/officeDocument/2006/relationships" id="259" r:id="Rc96e8a13400f432b"/>
    <p:sldId xmlns:r="http://schemas.openxmlformats.org/officeDocument/2006/relationships" id="260" r:id="Rc815e54d56fd4165"/>
    <p:sldId xmlns:r="http://schemas.openxmlformats.org/officeDocument/2006/relationships" id="261" r:id="R5c948149518341be"/>
    <p:sldId xmlns:r="http://schemas.openxmlformats.org/officeDocument/2006/relationships" id="262" r:id="R38876e83904143fb"/>
    <p:sldId xmlns:r="http://schemas.openxmlformats.org/officeDocument/2006/relationships" id="263" r:id="Rb33a5fa82ec04aa0"/>
    <p:sldId xmlns:r="http://schemas.openxmlformats.org/officeDocument/2006/relationships" id="264" r:id="R476467f4b5034fe6"/>
    <p:sldId xmlns:r="http://schemas.openxmlformats.org/officeDocument/2006/relationships" id="265" r:id="Ra35d5bdae24d48c8"/>
    <p:sldId xmlns:r="http://schemas.openxmlformats.org/officeDocument/2006/relationships" id="266" r:id="R913867ef04e14a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693c9c91df4658" /><Relationship Type="http://schemas.openxmlformats.org/officeDocument/2006/relationships/slideMaster" Target="/ppt/slideMasters/slideMaster1.xml" Id="R751d8bf0c2c9435f" /><Relationship Type="http://schemas.openxmlformats.org/officeDocument/2006/relationships/notesMaster" Target="/ppt/notesMasters/notesMaster1.xml" Id="Raa8bf73aa63a45dd" /><Relationship Type="http://schemas.openxmlformats.org/officeDocument/2006/relationships/presProps" Target="/ppt/presProps.xml" Id="R0806ffd0d0284aec" /><Relationship Type="http://schemas.openxmlformats.org/officeDocument/2006/relationships/tableStyles" Target="/ppt/tableStyles.xml" Id="R1796fc72197147c4" /><Relationship Type="http://schemas.openxmlformats.org/officeDocument/2006/relationships/slide" Target="/ppt/slides/slide1.xml" Id="Rc2953481d314460e" /><Relationship Type="http://schemas.openxmlformats.org/officeDocument/2006/relationships/slide" Target="/ppt/slides/slide2.xml" Id="Rc2be266265814b47" /><Relationship Type="http://schemas.openxmlformats.org/officeDocument/2006/relationships/slide" Target="/ppt/slides/slide3.xml" Id="R8d9d70b855144ee1" /><Relationship Type="http://schemas.openxmlformats.org/officeDocument/2006/relationships/slide" Target="/ppt/slides/slide4.xml" Id="Rc96e8a13400f432b" /><Relationship Type="http://schemas.openxmlformats.org/officeDocument/2006/relationships/slide" Target="/ppt/slides/slide5.xml" Id="Rc815e54d56fd4165" /><Relationship Type="http://schemas.openxmlformats.org/officeDocument/2006/relationships/slide" Target="/ppt/slides/slide6.xml" Id="R5c948149518341be" /><Relationship Type="http://schemas.openxmlformats.org/officeDocument/2006/relationships/slide" Target="/ppt/slides/slide7.xml" Id="R38876e83904143fb" /><Relationship Type="http://schemas.openxmlformats.org/officeDocument/2006/relationships/slide" Target="/ppt/slides/slide8.xml" Id="Rb33a5fa82ec04aa0" /><Relationship Type="http://schemas.openxmlformats.org/officeDocument/2006/relationships/slide" Target="/ppt/slides/slide9.xml" Id="R476467f4b5034fe6" /><Relationship Type="http://schemas.openxmlformats.org/officeDocument/2006/relationships/slide" Target="/ppt/slides/slide10.xml" Id="Ra35d5bdae24d48c8" /><Relationship Type="http://schemas.openxmlformats.org/officeDocument/2006/relationships/slide" Target="/ppt/slides/slide11.xml" Id="R913867ef04e14a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48de1284414f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df8668ca544e34" /><Relationship Type="http://schemas.openxmlformats.org/officeDocument/2006/relationships/notesMaster" Target="/ppt/notesMasters/notesMaster1.xml" Id="R044246d115e447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40684466684159" /><Relationship Type="http://schemas.openxmlformats.org/officeDocument/2006/relationships/notesMaster" Target="/ppt/notesMasters/notesMaster1.xml" Id="Re685aa6ecc0243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c27414f8c74128" /><Relationship Type="http://schemas.openxmlformats.org/officeDocument/2006/relationships/notesMaster" Target="/ppt/notesMasters/notesMaster1.xml" Id="Rd333aae1fc604f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6846f2476c4147" /><Relationship Type="http://schemas.openxmlformats.org/officeDocument/2006/relationships/notesMaster" Target="/ppt/notesMasters/notesMaster1.xml" Id="Re20eebbf6b8844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7f8de266a64683" /><Relationship Type="http://schemas.openxmlformats.org/officeDocument/2006/relationships/notesMaster" Target="/ppt/notesMasters/notesMaster1.xml" Id="R4814a9ed9f074f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4668f06b0441be" /><Relationship Type="http://schemas.openxmlformats.org/officeDocument/2006/relationships/notesMaster" Target="/ppt/notesMasters/notesMaster1.xml" Id="R48343560e32e41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6e02c633594e15" /><Relationship Type="http://schemas.openxmlformats.org/officeDocument/2006/relationships/notesMaster" Target="/ppt/notesMasters/notesMaster1.xml" Id="R8311b39be6ec44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d8a3a164f2440d" /><Relationship Type="http://schemas.openxmlformats.org/officeDocument/2006/relationships/notesMaster" Target="/ppt/notesMasters/notesMaster1.xml" Id="Rf78178129a1f49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162427c99040ff" /><Relationship Type="http://schemas.openxmlformats.org/officeDocument/2006/relationships/notesMaster" Target="/ppt/notesMasters/notesMaster1.xml" Id="Rd714b6b7000d46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1e308ff09b4d34" /><Relationship Type="http://schemas.openxmlformats.org/officeDocument/2006/relationships/notesMaster" Target="/ppt/notesMasters/notesMaster1.xml" Id="R93575269700a46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2621deaff9440b" /><Relationship Type="http://schemas.openxmlformats.org/officeDocument/2006/relationships/notesMaster" Target="/ppt/notesMasters/notesMaster1.xml" Id="Rb03109bafe5a4d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- UI screen captured in the rehearsal sandbox; every identifier is a sandbox fixture.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- UI screen captured in the rehearsal sandbox; every identifier is a sandbox fixture.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- UI screen captured in the rehearsal sandbox; every identifier and value is a sandbox fixture.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aa0adcc9041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8f528680ea494c" /><Relationship Type="http://schemas.openxmlformats.org/officeDocument/2006/relationships/slideLayout" Target="/ppt/slideLayouts/slideLayout1.xml" Id="Re387c97c377347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87c97c377347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13a46078f4ce5" /><Relationship Type="http://schemas.openxmlformats.org/officeDocument/2006/relationships/notesSlide" Target="/ppt/notesSlides/notesSlide1.xml" Id="R3f36d43861104c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129b7cb374472" /><Relationship Type="http://schemas.openxmlformats.org/officeDocument/2006/relationships/notesSlide" Target="/ppt/notesSlides/notesSlide2.xml" Id="Ra0025ce988ab45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8079d1aeb4612" /><Relationship Type="http://schemas.openxmlformats.org/officeDocument/2006/relationships/notesSlide" Target="/ppt/notesSlides/notesSlide3.xml" Id="Rc20fa8d8c5e04f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25fcba74d4c1b" /><Relationship Type="http://schemas.openxmlformats.org/officeDocument/2006/relationships/notesSlide" Target="/ppt/notesSlides/notesSlide4.xml" Id="Ra3017c07d8a84e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48dd41ba24225" /><Relationship Type="http://schemas.openxmlformats.org/officeDocument/2006/relationships/notesSlide" Target="/ppt/notesSlides/notesSlide5.xml" Id="Ra8d0ba2af9b94c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ba926de4a43b5" /><Relationship Type="http://schemas.openxmlformats.org/officeDocument/2006/relationships/notesSlide" Target="/ppt/notesSlides/notesSlide6.xml" Id="R017d744278db45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db89e39c3407a" /><Relationship Type="http://schemas.openxmlformats.org/officeDocument/2006/relationships/notesSlide" Target="/ppt/notesSlides/notesSlide7.xml" Id="R0ba6093a299d4c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a1be22c4d42c7" /><Relationship Type="http://schemas.openxmlformats.org/officeDocument/2006/relationships/image" Target="/ppt/media/image.png" Id="R771a7fe8094e4894" /><Relationship Type="http://schemas.openxmlformats.org/officeDocument/2006/relationships/notesSlide" Target="/ppt/notesSlides/notesSlide8.xml" Id="Rd1c834aa8ac444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599810d9f459f" /><Relationship Type="http://schemas.openxmlformats.org/officeDocument/2006/relationships/image" Target="/ppt/media/image2.png" Id="R2d29ca474c954b48" /><Relationship Type="http://schemas.openxmlformats.org/officeDocument/2006/relationships/notesSlide" Target="/ppt/notesSlides/notesSlide9.xml" Id="Rf721996701b042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7648ad44a4862" /><Relationship Type="http://schemas.openxmlformats.org/officeDocument/2006/relationships/image" Target="/ppt/media/image3.png" Id="R73bd468568d34065" /><Relationship Type="http://schemas.openxmlformats.org/officeDocument/2006/relationships/notesSlide" Target="/ppt/notesSlides/notesSlide10.xml" Id="R60cd9e0b57794f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2b7ec904a40ae" /><Relationship Type="http://schemas.openxmlformats.org/officeDocument/2006/relationships/notesSlide" Target="/ppt/notesSlides/notesSlide11.xml" Id="R01fc3a55af7b4f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94441-C308-46FE-8A33-08E625A5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E9F223-C235-4BF5-B128-4BE9E7F1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MERIDIAN AIRLINES • RESERVATIONS SERVICING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B7BFE-41DA-438C-86DE-A0D49E30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37144-B0E3-42F4-B951-15097AA0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Current-state workflow and operator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56B39-FBF3-4531-ABD6-61BE2176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Working process workbook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17A27-C89D-4377-B79A-A83FAF4E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Prepared for workflow review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Version 0.4 • Meridian Airlines internal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BBFAD-ACDF-4510-9A8D-303E2D8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72D3-0BD1-4023-9834-55D99B0A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239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WORKBOOK CONTENTS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10D6F-4777-482B-A3C0-E8866704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99154-5C01-46BB-8FF5-B9DEB3B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High-level cancellation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C32C1-8A89-45F2-AB1D-044AD8BA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14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D197F-4EFA-41A6-B3A6-40FC7197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24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C253B-C9AF-465C-A914-4F8B9890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Reason and eligibility references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14ED3-35B3-4D39-9738-9A0A947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860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93339-FE5F-430C-86C2-67FB47F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95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7BCBE-8829-4456-AA6B-BEE3BCE3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Operator screen walkthrough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3FEBC-E14A-4F80-9497-9C7C32BD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57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6DE02-C09F-482A-B8FC-23E717D3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B85E8-5E06-4934-8DC9-D21A1215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67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Controls and readiness notes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6059A-A3A8-4754-80B1-AC3F77C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AD8C0-D88C-4076-A405-D7460550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965151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8C3CAE-2CF7-4B6C-95E1-696831DB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— High-level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191E1-8DB7-4890-991F-312E3B9A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9B448-B376-4A93-B024-EF79BE28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14565-2CBC-4211-9B33-011A68CC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295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FA8D1-52E5-4B10-9A31-E5D6C3B3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904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1D6D9-264B-44CB-9CD7-40FD2AB6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62050"/>
            <a:ext cx="49530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BAC06-080F-4F75-8ABF-CA9C734F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0572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ELIGIBILITY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84A21-A7C2-429D-8CC9-75116069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62050"/>
            <a:ext cx="3238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8BDD3-356D-4914-BAA4-EDD840A2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0572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 AND CLOSE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A547A-318B-46A4-BAED-506FAB90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952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212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Customer asks to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 a reservation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2B364-7ADF-419B-B25F-81C10321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Get reservation identifier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03E90-E69E-41DE-A3AE-31C8716D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1381125" cy="7810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Identifier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available?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19AA4-958A-47F8-B766-8424C8A4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Open customer profile;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locate the reservation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2F804-A93D-4721-8E22-C92ED63B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716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Ask why the customer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wants to cancel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8C715-D78B-492F-847A-47094E1B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717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Review every segment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0302C-A908-4F3B-87C4-EF25EEDF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1524000" cy="857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885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Any segment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flying / landed?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7C045-AC68-46D4-AECA-B61D17C7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719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Evaluate allowed conditions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87C62-0DAE-4A91-9FFF-BD6DE1A5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1524000" cy="857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868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Allowed condition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met?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349F0E-689B-4DEE-8C0A-38BB0A85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9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Stop processing;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transfer to supervisor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F02963-F9E5-4B15-B59F-CDD3415F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81375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Explain cancellation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cannot be processed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7EA58-E16F-4F33-9518-16720581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720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Confirm request;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process cancellation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C058B-8DF8-48FE-B2AE-34EB1420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42925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Start refund workflow</a:t>
            </a:r>
          </a:p>
        </p:txBody>
      </p:sp>
      <p:cxnSp>
        <p:nvCxnSpPr>
          <p:cNvPr id="6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852613" y="2124075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67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852613" y="29908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543175" y="1847850"/>
            <a:ext cx="1504950" cy="1876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1838325" y="4114800"/>
            <a:ext cx="14288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933700" y="1847850"/>
            <a:ext cx="1114425" cy="2952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5095875" y="212407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7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143625" y="2828925"/>
            <a:ext cx="333375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8001000" y="2247900"/>
            <a:ext cx="1095375" cy="609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E13F33"/>
            </a:solidFill>
            <a:prstDash val="solid"/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16" idx="2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6143625" y="3286125"/>
            <a:ext cx="1095375" cy="7429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143625" y="4029075"/>
            <a:ext cx="333375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8001000" y="3676650"/>
            <a:ext cx="1095375" cy="37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B87918"/>
            </a:solidFill>
            <a:prstDash val="solid"/>
            <a:tailEnd type="arrow" w="sm" len="sm"/>
          </a:ln>
        </p:spPr>
      </p:cxnSp>
      <p:cxnSp>
        <p:nvCxnSpPr>
          <p:cNvPr id="77" name=""/>
          <p:cNvCxnSpPr>
            <a:stCxn xmlns:a="http://schemas.openxmlformats.org/drawingml/2006/main" id="18" idx="2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239000" y="4476750"/>
            <a:ext cx="1857375" cy="3905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cxnSp>
        <p:nvCxnSpPr>
          <p:cNvPr id="78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67938" y="51625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93D73D-7284-4422-8419-36FDB183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5717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63B329-14C7-4AB6-976E-732398FD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F423D6-FE46-4F13-8F7D-6D75E751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7623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2F8529-D676-48D4-B8CF-9507A357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767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7F22A6-A895-4208-A424-79B02C40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433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E750C2-A525-455C-A4BB-DA815486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76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B8C230-1187-4868-91D6-CC0859C3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6FE8EB-8041-4206-8A45-03568B33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895723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A1A0C4-0670-4AF1-878A-04C16625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Reason Capture — Operator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863A6-7294-4F3C-89D7-E02137FB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STEP / PURPOSE / SYSTEM / 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504E5-0FD5-49B0-BDFD-59098529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95A1A-7B45-49F5-A1BA-F3EAC97A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Capture one reason before evaluating eligibility. The reason label is an input to the decision flow; it is not the decision by itself.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3C8DA-C5D5-401C-A6BB-90619EA7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66675" tIns="76200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66975-BA79-409F-A865-09EBCA8A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66675" tIns="76200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2141D-AFC9-4D35-B9D2-FBDB849B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287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66675" tIns="76200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E5784-45C5-4E02-8733-D22BC0F6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66675" tIns="76200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SCREEN / FIELD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25EA2-6364-4843-90C2-84C9F0C9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8097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1. Open reservation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819EF-1CB0-43AA-BA1E-9685E795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71650"/>
            <a:ext cx="342900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Anchor the request to the correct trip.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B4953-D277-4D55-AF60-DA0560C1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71650"/>
            <a:ext cx="2381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Reservation workspace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2F13C-8129-43D4-A81D-B81DC32D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71650"/>
            <a:ext cx="3524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Lookup / itinerary 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467C2-57BE-4E64-8434-B6C3386F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1269"/>
            <a:ext cx="18097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2. Ask cancellation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4AC01-E8A5-4E60-B12E-48F2A424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1269"/>
            <a:ext cx="342900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the customer’s stated reason before checking conditions.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CCF913-9FA9-4377-8019-8303E9DC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31269"/>
            <a:ext cx="2381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Customer conversation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75B10-8ED3-4324-9878-82900442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1269"/>
            <a:ext cx="3524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Agent dialogue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398B5-4E85-4614-AEB1-FD7D4401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0888"/>
            <a:ext cx="18097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3. Select reason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B6C38-1B91-4F88-8D3D-DE0ADFDE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90888"/>
            <a:ext cx="342900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Use one of the supported reason categories.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A049B-052D-4F0C-B37B-14F56709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90888"/>
            <a:ext cx="2381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workspace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0B97F-6C6B-4E4C-9D2A-90A5711D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90888"/>
            <a:ext cx="3524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Reason drop-down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8A0C24-7AD7-47A6-96B1-33131EC7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0506"/>
            <a:ext cx="18097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4. Continue to eligibility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74D47-DDA7-4A43-861D-90D461F1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50506"/>
            <a:ext cx="342900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Evaluate status and allowed conditions in the required order.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35DD50-512C-41CD-8803-D13D4E84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50506"/>
            <a:ext cx="2381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Operator procedure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50311-15A2-4E79-9EF1-4ACCAA74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50506"/>
            <a:ext cx="3524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checklist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192232-6D9C-4192-96D1-102C992A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EA144B-4620-491F-8800-A4D17B10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149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SUPPORTED CANCELLATION REASONS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258714-4002-4D95-99BC-11238501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7350"/>
            <a:ext cx="314325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Change of plans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E47F13-39B7-495F-9A2A-954280B7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67350"/>
            <a:ext cx="314325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Airline cancelled the flight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E300A3-47A0-4D60-BB48-02509D8F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314325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Health or weather covered by insurance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549629-4C61-4557-BC82-135A716A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91200"/>
            <a:ext cx="314325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76BD12-4DBC-491B-9426-E5DD75B5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OPERATOR NOTE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AE4550-7A1C-48BA-8136-A47C1FFF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91150"/>
            <a:ext cx="35623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 not paraphrase a reason into a different category solely to reach a desired outcome.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10E323-13CE-4AEB-B707-CAF914FA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14E1D6-7EC0-4A55-ACE8-F9678387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579033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3B0E7E-8962-47AD-9659-19DDC2BA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Gate 1 — Segment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22B89-CC76-4D0D-99F8-66BEAB28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CHECK BEFORE ALL OTHER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5E0CF-A91B-499C-B7D8-6ACC1DCC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4ACA8-34BB-4F46-A122-C78A94C3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5875"/>
            <a:ext cx="7334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D47E6-3DE6-426E-8157-6F92A507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RESERVATION AND SEGMENT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5A7E8-CCA9-46BE-BE5D-401341A1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85875"/>
            <a:ext cx="3714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A28AE-C169-4B57-B69E-A7405720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1811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0B0BF-AEA0-4C03-B27F-3055BECB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Open itinerary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83183-A655-41B7-862F-0FE17827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907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List every flight segment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F3966-A4D7-4361-9BD3-E0793E17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954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Read current status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0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for each segment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28E42-DB9D-4ECA-AC7E-16048AF2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95625"/>
            <a:ext cx="2095500" cy="1123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Is any segment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7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FLYING or LANDED?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280B6-7973-4CDE-B209-BBABD7B2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9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Do not process cancellation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7711B-3A37-4303-B77D-3481E4ED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9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Transfer to a human supervisor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2DA42-C4BA-43F4-AEAF-7882C9C4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910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Continue to allowed-condition review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71750" y="20383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62550" y="20383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4429125" y="2381250"/>
            <a:ext cx="2143125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5476875" y="2533650"/>
            <a:ext cx="3190875" cy="1123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E13F33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858375" y="282892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13F33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11" idx="2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429125" y="4219575"/>
            <a:ext cx="4238625" cy="6667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2568F0-EE90-421A-90E8-79EEC776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575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E13F33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E13F33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89AD41-2994-4209-B2A5-2FE6562C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815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31511B-6705-494F-84D7-D74E2750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STATUS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3205D1-39B1-4A7C-A483-68465748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Review all itinerary rows, not only the first or selected segment.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Example statuses displayed by the tool may include scheduled, delayed, flying, landed, or cancelled.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494DAF-9E9C-4FAD-BEA1-D1536C9B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58F5C8-2323-4D15-B886-15CA5BCB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65120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CFBDC0-08CD-4271-B727-42518562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Gate 2 — Alternative Allowed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F2E23-AAA7-49FB-AF29-18AAF2A3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ANY ONE CONDITION IS SUFFICIENT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77037-6A96-4C53-BB3B-5E43A292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34C5E-1682-40A8-AAE1-DFA83BB1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Run this sequence only after confirming that no segment is flying or landed.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797A2-B932-46F5-8310-BD037319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8001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7390A-46B6-48DD-A6CA-E21A6815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 IN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01463-6383-497F-88BB-96D0B911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81125"/>
            <a:ext cx="304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E0C84-AE20-4AFD-ACCC-2156C287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76350"/>
            <a:ext cx="714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D2B5D-03DF-4AA7-89CE-ECFFA0E7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000250" cy="990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846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Reservation created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within the last 24 hours?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8BBA5-52A3-4A70-8D56-6C980309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000250" cy="990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961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Did the airline cancel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one of the flights?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8899F-B917-41FE-AF14-BAC31FE8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2000250" cy="990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Is the reservation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in business cabin?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68991-FF0C-48D8-A1E7-BBB07239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005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insurance branch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42FCE-B9E1-4052-903B-C3327FBD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38375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allowed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5128B-7585-4CB3-87B9-80B92801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005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No match yet: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continue to insurance / default branch</a:t>
            </a:r>
          </a:p>
        </p:txBody>
      </p:sp>
      <p:cxnSp>
        <p:nvCxnSpPr>
          <p:cNvPr id="46" name=""/>
          <p:cNvCxnSpPr>
            <a:stCxn xmlns:a="http://schemas.openxmlformats.org/drawingml/2006/main" id="9" idx="0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952625" y="1952625"/>
            <a:ext cx="8239125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52750" y="24479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10" idx="0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476750" y="1952625"/>
            <a:ext cx="4619625" cy="6381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476875" y="24479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001000" y="2447925"/>
            <a:ext cx="10953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11" idx="2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5486400" y="2943225"/>
            <a:ext cx="1514475" cy="13335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486400" y="4276725"/>
            <a:ext cx="3609975" cy="104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B87918"/>
            </a:solidFill>
            <a:prstDash val="solid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8DD4C4-A2D1-42E0-AFCA-159E79EE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716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931C96-F5A6-4240-9123-C5383ACE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241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DD51D-4CFA-4C67-8BEE-03DD00FC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716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7EC0F4-0C79-438E-987A-1E13C200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241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1CFC38-74D7-4B10-BD36-66C5C72D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0D0966-A532-4DB9-87CD-9840E088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BF632B-8319-4D34-80F7-60AAFC8B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DATA READS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CFC23B-87C9-40BE-96C1-EFFFF29B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6477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Creation timestamp compared with current system time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Segment disruption status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Reservation cabin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957C62-8BA9-4A7D-85F9-BDEA915B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06B44B-98A5-4744-9A3A-FA3AFD5A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25470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0A70AA-CE51-4189-9683-2356B5F5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Gate 3 — Insurance and Default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8038D-EADB-4575-8C3D-728CA6B6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FINAL BRANCH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DBE78-978A-4E22-9F88-BFB56D8E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CD700-FF41-444E-9568-82636C50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695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2B90B-930C-4610-ABAF-3BD324F1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INSURANCE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9B08E-1C2F-4150-9325-AB0FF88A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810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85A90-AFD1-4FAE-95B4-45C68FF1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2763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378FF-0C3C-4895-9104-92B14C40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2143125" cy="1123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886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Does the reservation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have travel insurance?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B4192-3494-4085-A7D4-401390E3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2143125" cy="1123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Is the reason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health or weather?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2CECD-775E-4D1F-A690-F9D2DD45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333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allowed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D69BC-4BFA-4710-98AE-36CDB2AA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333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cannot be processed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E98C5-F978-4272-8984-12CE27E9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Explain the outcome;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 not submit the action</a:t>
            </a:r>
          </a:p>
        </p:txBody>
      </p: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81375" y="26574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667500" y="2466975"/>
            <a:ext cx="190500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8" idx="2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309813" y="3219450"/>
            <a:ext cx="6262688" cy="10096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B87918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9" idx="2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595938" y="3219450"/>
            <a:ext cx="2976563" cy="10096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B87918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739313" y="4600575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7918"/>
            </a:solidFill>
            <a:prstDash val="solid"/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BBFC5-15ED-4D0B-B2CB-73DD57FF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669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99FEB-5791-4CC3-B679-7A5F5066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669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5E1E1-4108-47F8-9EEB-62D5531D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54C27-05C1-495F-8583-A733AA21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433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63F66-4109-46D2-8A58-91D3AEB7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DEFAULT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F1013-E205-436B-83C7-91B66DB6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05325"/>
            <a:ext cx="542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If none of the alternative allowed conditions applies, the reservation cannot be cancelled through this workflow.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0A7CEF-158C-4CC8-B591-C65036BB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F5ED1C-2598-4BE5-9851-2EB84E02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227137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59DFDA-FBFE-4BA8-80A2-7F27BDD2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Control Point and Refund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F70A1-3C24-4966-B0AB-5F0335F2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OPERATOR-ENFORCED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4932E-BE08-457F-858D-7560D1C8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1B6FD-23B5-456A-9DCC-E440FBF1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328612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EDB02-566F-4D89-B5B3-20A42B09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2763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02C9D-7D39-4BA8-BC76-D1941200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3524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D4459-2F7B-4119-A3EF-79280BC2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763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CANCELLATION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802FA-1A3B-4EA3-8A78-B77C0BD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395287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8B767-7285-40AE-83C8-765A9E19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76350"/>
            <a:ext cx="714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63662-D707-486D-9B1F-8C7A0576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524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9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The system does not enforce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eligibility.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61403-121B-4131-8685-1E292E95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242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The operator must verify the complete eligibility sequence before using the cancellation 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6B964-C4A6-4A08-9CA0-943526D4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CONTROL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DA13B-BB2D-414C-BF13-B038C97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05325"/>
            <a:ext cx="2524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reviewed reservation, reason, status check, and matched condition in the case notes.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4B16A-B98C-4675-9D80-3C49F708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review complete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B484CA-0CBD-4506-B1A5-1ED118FD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95625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Confirm customer wants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to proceed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CE951-5A87-4F2A-A273-1C3488BC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Submit cancellation</a:t>
            </a:r>
          </a:p>
        </p:txBody>
      </p:sp>
      <p:cxnSp>
        <p:nvCxnSpPr>
          <p:cNvPr id="41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5762625" y="2552700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762625" y="3724275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6FB5B-5BC9-4AFE-BA43-EFEE1D5B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Return funds to the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original payment method(s).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0B8E2-DDF4-4AC3-94D1-1E1D6B53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Tell the customer the refund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will arrive within 12 business days.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5289D0-07D7-436F-AC92-21A136D5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9625"/>
            <a:ext cx="2809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MULTIPLE PAYMENT ROWS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954F5-5A5D-4BFB-BCF4-16E8BD31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91075"/>
            <a:ext cx="2809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When the original purchase used more than one method, review each original-payment row before submission.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57F1B9-FF12-401B-8AF1-1E3E45C1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A6A31C-5234-4EE5-8159-0136ACBA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924583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271250-16D1-46FA-A82B-1C35B91E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Operating Screen — Reservation Lookup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B3C12-0DCB-4CFF-A75D-C46C395C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REHEARSAL SANDBOX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645E6-BAC8-45E4-ADC6-316A878D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a7fe8094e4894"/>
          <a:stretch xmlns:a="http://schemas.openxmlformats.org/drawingml/2006/main"/>
        </p:blipFill>
        <p:spPr>
          <a:xfrm xmlns:a="http://schemas.openxmlformats.org/drawingml/2006/main">
            <a:off x="457200" y="1074852"/>
            <a:ext cx="7858125" cy="442254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1609E-3F7C-4689-AC7E-68639740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38250"/>
            <a:ext cx="309562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549A0-47EC-4864-B0D0-F4074F69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1334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THE OPERATOR IS DOING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88DB4-8F02-46E5-9A0F-FBFAF860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E2A40-0101-4205-9544-5976EA04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0022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Locate the correct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E4821-5507-4D03-89AA-A0BFC49F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47875"/>
            <a:ext cx="2209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Use the reservation identifier. If the customer does not have it, use the customer profile to locate the trip.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FB1F4-EA2E-4940-94BC-CC19C34C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8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29626-8BB8-4415-A10E-9ED09310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3847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Verify itinerary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4266F-2876-4A3B-9D98-6E8B1E61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286125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Confirm the displayed traveler and itinerary belong to the request before continuing.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DC753-D0AD-4B4C-9E8B-314D8ABE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9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033E4-B2FE-496D-A175-B57ED2C3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8147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Continue to reason capture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4E09B-D014-4773-9733-8CEEE668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29125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The lookup screen provides context; it does not determine cancellation eligibility.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FE0DC-C319-4B15-B02B-5E6E2324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483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1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750" b="0" i="1">
                <a:solidFill>
                  <a:srgbClr val="66747B"/>
                </a:solidFill>
                <a:latin typeface="Arial"/>
                <a:ea typeface="Arial"/>
                <a:cs typeface="Arial"/>
              </a:rPr>
              <a:t>Operator screen captured in the rehearsal sandbox; records shown are sandbox fixtures.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83429-1446-44A8-8A21-83F9182A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14E35-2E25-4636-BD52-D4FD6CE3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43968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BE6115-1404-4D9B-AA4E-41666267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Operating Screen — Segment Status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26281-BDF3-4EC1-9E3C-7B62061F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REHEARSAL SANDBOX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C0343-90EE-4493-85F6-E4805EC5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9ca474c954b48"/>
          <a:stretch xmlns:a="http://schemas.openxmlformats.org/drawingml/2006/main"/>
        </p:blipFill>
        <p:spPr>
          <a:xfrm xmlns:a="http://schemas.openxmlformats.org/drawingml/2006/main">
            <a:off x="460409" y="1066800"/>
            <a:ext cx="8089833" cy="4552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9E25B-278C-4451-859E-3B952FA1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257300"/>
            <a:ext cx="2857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9F938-9628-404F-B5E3-CB012B7E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1525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0036E-54D1-4ED3-AF98-114EFADE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57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B916C-DFEA-4CF3-B3B3-C9774FB4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47850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every segment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B40BC-D017-41E8-BD2B-14C06893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1971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Read status across all rows in the itinerary. Do not infer the whole trip from a selected row.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BE807-B2E2-455C-B807-04AC3B9F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6B593-32D0-49D0-A375-8AB8D545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2897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Use current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39958-C787-405A-B911-B0FACB86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76625"/>
            <a:ext cx="19716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A flying or landed segment stops the automated cancellation path and requires supervisor transfer.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2D522-EA39-4440-A6C9-93E0E00D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962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SCREEN CAVEAT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1FF2A-F516-490F-B99E-9F979C9D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91075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The interface may show status and timestamps, but the operator applies the policy sequence.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0A7CF-5D35-4083-9555-CED4E071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57D3D-DC6B-4831-B4C2-D541FB81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776664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38C897-DFA5-4448-8C00-E032D59F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Operating Screen — Refund Workbench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F1CA0-E4C4-40B0-B419-35EA5D4A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REHEARSAL SANDBOX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8F279-7700-4D23-AA62-9999C874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d468568d34065"/>
          <a:stretch xmlns:a="http://schemas.openxmlformats.org/drawingml/2006/main"/>
        </p:blipFill>
        <p:spPr>
          <a:xfrm xmlns:a="http://schemas.openxmlformats.org/drawingml/2006/main">
            <a:off x="457200" y="1069158"/>
            <a:ext cx="8115300" cy="456728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845C2-5B6E-4BD2-AB42-BAC2CC17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257300"/>
            <a:ext cx="2857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7C27E-BE96-472E-90C7-2AFAA2CC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15252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OPERATOR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C320E-F8CD-49D0-974C-52BCFEEE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57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B5907-7CD4-401E-8631-9D03AA4B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47850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Review original-payment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8D0F8-002A-4C29-A319-69CB2257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19716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Refund allocation follows the payment methods used for the original purchase.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B37FB-C8CE-4495-B0DB-06C2EAAE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90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60EAD-2475-489A-B69F-DBF15543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81350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Validate before submit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34AD6-88D9-48C9-93A3-06A1672B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29000"/>
            <a:ext cx="19716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Confirm the allocation and only submit after the cancellation eligibility review is complete.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61B00-FFBD-4267-A671-6B1CBDF5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962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CUSTOMER EXPECTATION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04D97-83C7-4B9E-AE58-308EE22F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91075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After submission, explain that the refund will arrive within 12 business days.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17002-D904-43F6-AD08-E250CB26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8BF27-DE7A-4D1F-9D4C-93C8DED9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093491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Implementation Notes and Open Items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WORKING 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Collected during the rollout working sessions. The items below are implementation context, not additional cancellation rules.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Keep the departed-flight gate first.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Treat allowed conditions as alternatives.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 not rely on the tool to block ineligible actions.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AND SCREEN MAPPING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Reservation lookup and segment-status screens may be separate.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Current system time is required for the 24-hour comparison.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Payment rows may contain more than one original method.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CHECKLIST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Confirm reason labels match the customer’s statement.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Validate handoff wording for supervisor transfers.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Verify refund expectation is included after submission.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END OF WORKBOOK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Application>LibreOffice Impress</Application>
  <PresentationFormat>Widescreen</PresentationFormat>
  <Slides>11</Slides>
  <Notes>11</Notes>
  <HiddenSlides>0</HiddenSlides>
  <MMClips>0</MMClips>
  <ScaleCrop>false</ScaleCrop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Cancellation Operations — Current-State Workflow and Operator Reference</dc:title>
  <dc:subject>Cancellation workflow review</dc:subject>
  <dc:creator>Reservation Operations</dc:creator>
  <cp:lastModifiedBy>Reservation Operations</cp:lastModifiedBy>
  <cp:revision>2</cp:revision>
  <dcterms:created xsi:type="dcterms:W3CDTF">2024-04-22T16:20:00Z</dcterms:created>
  <dcterms:modified xsi:type="dcterms:W3CDTF">2024-04-26T13:40:00Z</dcterms:modified>
</cp:coreProperties>
</file>